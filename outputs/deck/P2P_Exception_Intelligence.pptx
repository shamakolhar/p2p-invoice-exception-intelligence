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C8A"/>
                </a:solidFill>
              </a:defRPr>
            </a:pPr>
            <a:r>
              <a:t>P2P Invoice Exception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62626"/>
                </a:solidFill>
              </a:defRPr>
            </a:pPr>
            <a:r>
              <a:t>AI-assisted exception detection and triage for Procure-to-Pay — a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E5C8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Analysed 251,734 real purchase-order line items from the BPI Challenge 2019 SAP event log.</a:t>
            </a:r>
          </a:p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34.1% of cases trigger at least one of six rule-based exceptions, representing EUR 520,734,872 of net order value.</a:t>
            </a:r>
          </a:p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Median cycle time from PO creation to invoice clearing is 77.0 days (90th percentile: 126.2 days).</a:t>
            </a:r>
          </a:p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A Claude vision prototype extracted key fields from 40 real scanned receipts at 81.2% average normalised accuracy — promising, but not yet reliable enough to remove human review.</a:t>
            </a:r>
          </a:p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Recommendation: pilot an AI-assisted triage layer that drafts exception summaries and root causes for human AP reviewers — not an auto-approval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E5C8A"/>
                </a:solidFill>
              </a:defRPr>
            </a:pPr>
            <a:r>
              <a:t>Procure-to-Pay and Why Exceptions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Procure-to-Pay (P2P) covers the flow from raising a purchase order through goods/service receipt, invoice receipt, and payment clearing.</a:t>
            </a:r>
          </a:p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Three-way matching compares the Purchase Order, the Goods Receipt, and the Invoice before payment is released — it is a core financial control against overpayment and fraud.</a:t>
            </a:r>
          </a:p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Exceptions (price/quantity changes, payment blocks, sequence breaks, repeated invoices) slow down the process, increase manual rework for AP teams, and create audit and compliance exposure.</a:t>
            </a:r>
          </a:p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This project mines a real SAP event log to find where exceptions actually occur, then prototypes a generative-AI layer to help AP analysts triage them faster.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5C8A"/>
                </a:solidFill>
              </a:defRPr>
            </a:pPr>
            <a:r>
              <a:t>As-Is: Manual Three-Way Match</a:t>
            </a:r>
          </a:p>
        </p:txBody>
      </p:sp>
      <p:pic>
        <p:nvPicPr>
          <p:cNvPr id="3" name="Picture 2" descr="process_map_as_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331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262626"/>
                </a:solidFill>
              </a:defRPr>
            </a:pPr>
            <a:r>
              <a:t>Goods receipt, invoice receipt, and matching are reconciled manually by the AP analyst today.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5C8A"/>
                </a:solidFill>
              </a:defRPr>
            </a:pPr>
            <a:r>
              <a:t>What the Data Shows: 34.1% Exception Rate Across 251,734 Cases</a:t>
            </a:r>
          </a:p>
        </p:txBody>
      </p:sp>
      <p:pic>
        <p:nvPicPr>
          <p:cNvPr id="3" name="Picture 2" descr="02_cycle_tim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614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262626"/>
                </a:solidFill>
              </a:defRPr>
            </a:pPr>
            <a:r>
              <a:t>Cycle time is right-skewed: most items clear quickly, but a long tail drives the 90th-percentile exception rule (E6).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5C8A"/>
                </a:solidFill>
              </a:defRPr>
            </a:pPr>
            <a:r>
              <a:t>Exception Hotspots Concentrate in a Small Set of Categories and Vendors</a:t>
            </a:r>
          </a:p>
        </p:txBody>
      </p:sp>
      <p:pic>
        <p:nvPicPr>
          <p:cNvPr id="3" name="Picture 2" descr="01_exception_rate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614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262626"/>
                </a:solidFill>
              </a:defRPr>
            </a:pPr>
            <a:r>
              <a:t>See the Vendor Hotspots sheet in the Excel workbook for the full vendor-level breakdown.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5C8A"/>
                </a:solidFill>
              </a:defRPr>
            </a:pPr>
            <a:r>
              <a:t>GenAI Document Extraction: Strong on Totals, Weaker on Document Date</a:t>
            </a:r>
          </a:p>
        </p:txBody>
      </p:sp>
      <p:pic>
        <p:nvPicPr>
          <p:cNvPr id="3" name="Picture 2" descr="05_extraction_accuracy_by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614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262626"/>
                </a:solidFill>
              </a:defRPr>
            </a:pPr>
            <a:r>
              <a:t>Tested on 40 real scanned receipts (ICDAR-SROIE) with ground-truth labels; document date accuracy was the weakest field at 45.0%.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5C8A"/>
                </a:solidFill>
              </a:defRPr>
            </a:pPr>
            <a:r>
              <a:t>To-Be: AI-Assisted Triage with Human-in-the-Loop Controls</a:t>
            </a:r>
          </a:p>
        </p:txBody>
      </p:sp>
      <p:pic>
        <p:nvPicPr>
          <p:cNvPr id="3" name="Picture 2" descr="process_map_to_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5106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262626"/>
                </a:solidFill>
              </a:defRPr>
            </a:pPr>
            <a:r>
              <a:t>Claude drafts the exception summary and root cause; a human AP reviewer approves, rejects, or escalates every case.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E5C8A"/>
                </a:solidFill>
              </a:defRPr>
            </a:pPr>
            <a:r>
              <a:t>Controls and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Hallucination: the triage prompt instructs the model to answer 'insufficient information' rather than guess, and is restricted to facts present in the case's own event history.</a:t>
            </a:r>
          </a:p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Data privacy: document images and event data are processed only through the Anthropic API under the project's own key; no data is used to train models; API keys are never logged or committed.</a:t>
            </a:r>
          </a:p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Audit trail: every AI output (extraction JSON, triage JSON) is cached and stored alongside the case ID so a reviewer can trace exactly what the model saw and said.</a:t>
            </a:r>
          </a:p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Segregation of duties: the AI never clears an invoice or removes a payment block — it only drafts a recommendation that a human reviewer must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E5C8A"/>
                </a:solidFill>
              </a:defRPr>
            </a:pPr>
            <a:r>
              <a:t>Implementation Roadmap: Pilot to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Pilot (0-3 months): run AI-assisted triage alongside existing manual review for one vendor category; track reviewer agreement with AI root-cause suggestions.</a:t>
            </a:r>
          </a:p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[Illustrative assumption] If reviewers accept AI-drafted summaries for ~60% of cases without edits, analyst time per exception could fall meaningfully — this is an assumption to validate in the pilot, not a measured result.</a:t>
            </a:r>
          </a:p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Scale (3-9 months): extend to all 3-way-match categories, add a feedback loop so rejected AI suggestions are logged and reviewed for prompt improvements.</a:t>
            </a:r>
          </a:p>
          <a:p>
            <a:pPr>
              <a:spcAft>
                <a:spcPts val="1000"/>
              </a:spcAft>
              <a:defRPr sz="1600">
                <a:solidFill>
                  <a:srgbClr val="262626"/>
                </a:solidFill>
              </a:defRPr>
            </a:pPr>
            <a:r>
              <a:t>• Throughout: keep a human-in-the-loop approval step and an audit log at every stage.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E5C8A"/>
                </a:solidFill>
              </a:defRPr>
            </a:pPr>
            <a:r>
              <a:t>Appendix: Data Sources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2626"/>
                </a:solidFill>
              </a:defRPr>
            </a:pPr>
            <a:r>
              <a:t>• BPI Challenge 2019 event log - 4TU.ResearchData, DOI 10.4121/uuid:d06aff4b-79f0-45e6-8ec8-e19730c248f1 (real, anonymised SAP purchase-order data).</a:t>
            </a:r>
          </a:p>
          <a:p>
            <a:pPr>
              <a:spcAft>
                <a:spcPts val="1000"/>
              </a:spcAft>
              <a:defRPr sz="1500">
                <a:solidFill>
                  <a:srgbClr val="262626"/>
                </a:solidFill>
              </a:defRPr>
            </a:pPr>
            <a:r>
              <a:t>• ICDAR-SROIE 2019 scanned receipts - real receipt images with ground-truth key-information labels, used here as invoice-like documents (not purchase invoices) for the extraction test.</a:t>
            </a:r>
          </a:p>
          <a:p>
            <a:pPr>
              <a:spcAft>
                <a:spcPts val="1000"/>
              </a:spcAft>
              <a:defRPr sz="1500">
                <a:solidFill>
                  <a:srgbClr val="262626"/>
                </a:solidFill>
              </a:defRPr>
            </a:pPr>
            <a:r>
              <a:t>• Method: pandas for process mining and exception-rule computation; Claude (claude-haiku-5-5 by default) for document extraction and exception triage; openpyxl / python-pptx for reporting.</a:t>
            </a:r>
          </a:p>
          <a:p>
            <a:pPr>
              <a:spcAft>
                <a:spcPts val="1000"/>
              </a:spcAft>
              <a:defRPr sz="1500">
                <a:solidFill>
                  <a:srgbClr val="262626"/>
                </a:solidFill>
              </a:defRPr>
            </a:pPr>
            <a:r>
              <a:t>• Limitations: exception rules are a starting set, not an exhaustive AP control framework; GenAI accuracy was measured on a small sample; see the Explanation Guide for full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